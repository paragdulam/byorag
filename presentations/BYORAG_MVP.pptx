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2E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914400"/>
            <a:ext cx="457200" cy="457200"/>
          </a:xfrm>
          <a:prstGeom prst="ellipse">
            <a:avLst/>
          </a:prstGeom>
          <a:solidFill>
            <a:srgbClr val="028090">
              <a:alpha val="7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601200" y="1554480"/>
            <a:ext cx="640080" cy="640080"/>
          </a:xfrm>
          <a:prstGeom prst="ellipse">
            <a:avLst/>
          </a:prstGeom>
          <a:solidFill>
            <a:srgbClr val="00A896">
              <a:alpha val="7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0607040" y="1005840"/>
            <a:ext cx="411480" cy="411480"/>
          </a:xfrm>
          <a:prstGeom prst="ellipse">
            <a:avLst/>
          </a:prstGeom>
          <a:solidFill>
            <a:srgbClr val="02C39A">
              <a:alpha val="7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9966960" y="2743200"/>
            <a:ext cx="320040" cy="320040"/>
          </a:xfrm>
          <a:prstGeom prst="ellipse">
            <a:avLst/>
          </a:prstGeom>
          <a:solidFill>
            <a:srgbClr val="028090">
              <a:alpha val="75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11064240" y="2377440"/>
            <a:ext cx="502920" cy="502920"/>
          </a:xfrm>
          <a:prstGeom prst="ellipse">
            <a:avLst/>
          </a:prstGeom>
          <a:solidFill>
            <a:srgbClr val="00A896">
              <a:alpha val="75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2331720"/>
            <a:ext cx="86868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BYORAG</a:t>
            </a:r>
            <a:endParaRPr lang="en-US" sz="6000" dirty="0"/>
          </a:p>
        </p:txBody>
      </p:sp>
      <p:sp>
        <p:nvSpPr>
          <p:cNvPr id="8" name="Text 6"/>
          <p:cNvSpPr/>
          <p:nvPr/>
        </p:nvSpPr>
        <p:spPr>
          <a:xfrm>
            <a:off x="658368" y="3429000"/>
            <a:ext cx="8046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2000" dirty="0">
                <a:solidFill>
                  <a:srgbClr val="C9E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(and compare) your own</a:t>
            </a:r>
            <a:endParaRPr lang="en-US" sz="2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000" dirty="0">
                <a:solidFill>
                  <a:srgbClr val="C9E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Retrieval-Augmented Generation pipelines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658368" y="4709160"/>
            <a:ext cx="7772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8FB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local RAG experimentation tool — chunk, embed, retrieve,</a:t>
            </a:r>
            <a:endParaRPr lang="en-US" sz="1400" dirty="0"/>
          </a:p>
          <a:p>
            <a:pPr indent="0" marL="0">
              <a:buNone/>
            </a:pPr>
            <a:r>
              <a:rPr lang="en-US" sz="1400" i="1" dirty="0">
                <a:solidFill>
                  <a:srgbClr val="8FB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generate, and evaluate, one swappable strategy at a time.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57200" y="653796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7FA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BYORAG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FA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626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BYORAG?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371600"/>
            <a:ext cx="64008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1626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There is no universally “correct” way to chunk a document, choose an embedding model, or retrieve context — RAG quality is subjective and workload-dependent.</a:t>
            </a:r>
            <a:endParaRPr lang="en-US" sz="1600" dirty="0"/>
          </a:p>
          <a:p>
            <a:pPr indent="0" marL="0">
              <a:lnSpc>
                <a:spcPct val="130000"/>
              </a:lnSpc>
              <a:buNone/>
            </a:pPr>
            <a:endParaRPr lang="en-US" sz="16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1626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BYORAG makes the whole pipeline visible and adjustable, instead of hiding it behind a single hardcoded configuration — so you can change one variable at a time and see what actually moves the needle.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7406640" y="1371600"/>
            <a:ext cx="4206240" cy="1417320"/>
          </a:xfrm>
          <a:prstGeom prst="roundRect">
            <a:avLst>
              <a:gd name="adj" fmla="val 5161"/>
            </a:avLst>
          </a:prstGeom>
          <a:solidFill>
            <a:srgbClr val="F3F7F6"/>
          </a:solidFill>
          <a:ln/>
          <a:effectLst>
            <a:outerShdw sx="100000" sy="100000" kx="0" ky="0" algn="bl" rotWithShape="0" blurRad="76200" dist="25400" dir="5400000">
              <a:srgbClr val="1A1A1A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635240" y="1600200"/>
            <a:ext cx="502920" cy="50292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6" name="Text 4"/>
          <p:cNvSpPr/>
          <p:nvPr/>
        </p:nvSpPr>
        <p:spPr>
          <a:xfrm>
            <a:off x="7635240" y="16002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3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430" dirty="0"/>
          </a:p>
        </p:txBody>
      </p:sp>
      <p:sp>
        <p:nvSpPr>
          <p:cNvPr id="7" name="Text 5"/>
          <p:cNvSpPr/>
          <p:nvPr/>
        </p:nvSpPr>
        <p:spPr>
          <a:xfrm>
            <a:off x="8275320" y="1536192"/>
            <a:ext cx="3154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6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Per-user accounts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275320" y="1901952"/>
            <a:ext cx="31546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7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corpus and experiment stays private to the account that created it.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7406640" y="3017520"/>
            <a:ext cx="4206240" cy="1417320"/>
          </a:xfrm>
          <a:prstGeom prst="roundRect">
            <a:avLst>
              <a:gd name="adj" fmla="val 5161"/>
            </a:avLst>
          </a:prstGeom>
          <a:solidFill>
            <a:srgbClr val="F3F7F6"/>
          </a:solidFill>
          <a:ln/>
          <a:effectLst>
            <a:outerShdw sx="100000" sy="100000" kx="0" ky="0" algn="bl" rotWithShape="0" blurRad="76200" dist="25400" dir="5400000">
              <a:srgbClr val="1A1A1A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7635240" y="3246120"/>
            <a:ext cx="502920" cy="50292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1" name="Text 9"/>
          <p:cNvSpPr/>
          <p:nvPr/>
        </p:nvSpPr>
        <p:spPr>
          <a:xfrm>
            <a:off x="7635240" y="32461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3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430" dirty="0"/>
          </a:p>
        </p:txBody>
      </p:sp>
      <p:sp>
        <p:nvSpPr>
          <p:cNvPr id="12" name="Text 10"/>
          <p:cNvSpPr/>
          <p:nvPr/>
        </p:nvSpPr>
        <p:spPr>
          <a:xfrm>
            <a:off x="8275320" y="3182112"/>
            <a:ext cx="3154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6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Swappable strategies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8275320" y="3547872"/>
            <a:ext cx="31546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7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Chunking, embedding, retrieval, generation, and evaluation are each a registry entry.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7406640" y="4663440"/>
            <a:ext cx="4206240" cy="1417320"/>
          </a:xfrm>
          <a:prstGeom prst="roundRect">
            <a:avLst>
              <a:gd name="adj" fmla="val 5161"/>
            </a:avLst>
          </a:prstGeom>
          <a:solidFill>
            <a:srgbClr val="F3F7F6"/>
          </a:solidFill>
          <a:ln/>
          <a:effectLst>
            <a:outerShdw sx="100000" sy="100000" kx="0" ky="0" algn="bl" rotWithShape="0" blurRad="76200" dist="25400" dir="5400000">
              <a:srgbClr val="1A1A1A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7635240" y="4892040"/>
            <a:ext cx="502920" cy="50292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6" name="Text 14"/>
          <p:cNvSpPr/>
          <p:nvPr/>
        </p:nvSpPr>
        <p:spPr>
          <a:xfrm>
            <a:off x="7635240" y="48920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3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430" dirty="0"/>
          </a:p>
        </p:txBody>
      </p:sp>
      <p:sp>
        <p:nvSpPr>
          <p:cNvPr id="17" name="Text 15"/>
          <p:cNvSpPr/>
          <p:nvPr/>
        </p:nvSpPr>
        <p:spPr>
          <a:xfrm>
            <a:off x="8275320" y="4828032"/>
            <a:ext cx="3154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6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Full traceability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8275320" y="5193792"/>
            <a:ext cx="31546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7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embedding, chat turn, and score traces back to the config that produced it.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457200" y="653796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B7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BYORAG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7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626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pipeline of swappable strategies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10515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5B7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stage sits behind a small registry-based interface — a new implementation is a registration, not a rewrite.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457200" y="2926080"/>
            <a:ext cx="1051560" cy="731520"/>
          </a:xfrm>
          <a:prstGeom prst="roundRect">
            <a:avLst>
              <a:gd name="adj" fmla="val 50000"/>
            </a:avLst>
          </a:prstGeom>
          <a:solidFill>
            <a:srgbClr val="0B2E33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2926080"/>
            <a:ext cx="10515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</a:t>
            </a:r>
            <a:endParaRPr lang="en-US" sz="105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1545336" y="3154680"/>
            <a:ext cx="201168" cy="274320"/>
          </a:xfrm>
          <a:prstGeom prst="rightArrow">
            <a:avLst/>
          </a:prstGeom>
          <a:solidFill>
            <a:srgbClr val="C9D6D6"/>
          </a:solidFill>
          <a:ln/>
        </p:spPr>
      </p:sp>
      <p:sp>
        <p:nvSpPr>
          <p:cNvPr id="7" name="Shape 5"/>
          <p:cNvSpPr/>
          <p:nvPr/>
        </p:nvSpPr>
        <p:spPr>
          <a:xfrm>
            <a:off x="1783080" y="2148840"/>
            <a:ext cx="1627632" cy="2286000"/>
          </a:xfrm>
          <a:prstGeom prst="roundRect">
            <a:avLst>
              <a:gd name="adj" fmla="val 5056"/>
            </a:avLst>
          </a:prstGeom>
          <a:solidFill>
            <a:srgbClr val="F3F7F6"/>
          </a:solidFill>
          <a:ln/>
          <a:effectLst>
            <a:outerShdw sx="100000" sy="100000" kx="0" ky="0" algn="bl" rotWithShape="0" blurRad="63500" dist="25400" dir="5400000">
              <a:srgbClr val="1A1A1A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1783080" y="2148840"/>
            <a:ext cx="1627632" cy="502920"/>
          </a:xfrm>
          <a:prstGeom prst="roundRect">
            <a:avLst>
              <a:gd name="adj" fmla="val 16364"/>
            </a:avLst>
          </a:prstGeom>
          <a:solidFill>
            <a:srgbClr val="028090"/>
          </a:solidFill>
          <a:ln/>
        </p:spPr>
      </p:sp>
      <p:sp>
        <p:nvSpPr>
          <p:cNvPr id="9" name="Text 7"/>
          <p:cNvSpPr/>
          <p:nvPr/>
        </p:nvSpPr>
        <p:spPr>
          <a:xfrm>
            <a:off x="1783080" y="2148840"/>
            <a:ext cx="162763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Chunking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947672" y="2834640"/>
            <a:ext cx="1298448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626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Fixed-size, word-count based, configurable overlap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38144" y="3154680"/>
            <a:ext cx="164592" cy="274320"/>
          </a:xfrm>
          <a:prstGeom prst="rightArrow">
            <a:avLst/>
          </a:prstGeom>
          <a:solidFill>
            <a:srgbClr val="C9D6D6"/>
          </a:solidFill>
          <a:ln/>
        </p:spPr>
      </p:sp>
      <p:sp>
        <p:nvSpPr>
          <p:cNvPr id="12" name="Shape 10"/>
          <p:cNvSpPr/>
          <p:nvPr/>
        </p:nvSpPr>
        <p:spPr>
          <a:xfrm>
            <a:off x="3630168" y="2148840"/>
            <a:ext cx="1627632" cy="2286000"/>
          </a:xfrm>
          <a:prstGeom prst="roundRect">
            <a:avLst>
              <a:gd name="adj" fmla="val 5056"/>
            </a:avLst>
          </a:prstGeom>
          <a:solidFill>
            <a:srgbClr val="F3F7F6"/>
          </a:solidFill>
          <a:ln/>
          <a:effectLst>
            <a:outerShdw sx="100000" sy="100000" kx="0" ky="0" algn="bl" rotWithShape="0" blurRad="63500" dist="25400" dir="5400000">
              <a:srgbClr val="1A1A1A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630168" y="2148840"/>
            <a:ext cx="1627632" cy="502920"/>
          </a:xfrm>
          <a:prstGeom prst="roundRect">
            <a:avLst>
              <a:gd name="adj" fmla="val 16364"/>
            </a:avLst>
          </a:prstGeom>
          <a:solidFill>
            <a:srgbClr val="00A896"/>
          </a:solidFill>
          <a:ln/>
        </p:spPr>
      </p:sp>
      <p:sp>
        <p:nvSpPr>
          <p:cNvPr id="14" name="Text 12"/>
          <p:cNvSpPr/>
          <p:nvPr/>
        </p:nvSpPr>
        <p:spPr>
          <a:xfrm>
            <a:off x="3630168" y="2148840"/>
            <a:ext cx="162763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Embeddings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794760" y="2834640"/>
            <a:ext cx="1298448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626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bert-base-uncased, mean-pooled, 768-dim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285232" y="3154680"/>
            <a:ext cx="164592" cy="274320"/>
          </a:xfrm>
          <a:prstGeom prst="rightArrow">
            <a:avLst/>
          </a:prstGeom>
          <a:solidFill>
            <a:srgbClr val="C9D6D6"/>
          </a:solidFill>
          <a:ln/>
        </p:spPr>
      </p:sp>
      <p:sp>
        <p:nvSpPr>
          <p:cNvPr id="17" name="Shape 15"/>
          <p:cNvSpPr/>
          <p:nvPr/>
        </p:nvSpPr>
        <p:spPr>
          <a:xfrm>
            <a:off x="5477256" y="2148840"/>
            <a:ext cx="1627632" cy="2286000"/>
          </a:xfrm>
          <a:prstGeom prst="roundRect">
            <a:avLst>
              <a:gd name="adj" fmla="val 5056"/>
            </a:avLst>
          </a:prstGeom>
          <a:solidFill>
            <a:srgbClr val="F3F7F6"/>
          </a:solidFill>
          <a:ln/>
          <a:effectLst>
            <a:outerShdw sx="100000" sy="100000" kx="0" ky="0" algn="bl" rotWithShape="0" blurRad="63500" dist="25400" dir="5400000">
              <a:srgbClr val="1A1A1A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5477256" y="2148840"/>
            <a:ext cx="1627632" cy="502920"/>
          </a:xfrm>
          <a:prstGeom prst="roundRect">
            <a:avLst>
              <a:gd name="adj" fmla="val 16364"/>
            </a:avLst>
          </a:prstGeom>
          <a:solidFill>
            <a:srgbClr val="02C39A"/>
          </a:solidFill>
          <a:ln/>
        </p:spPr>
      </p:sp>
      <p:sp>
        <p:nvSpPr>
          <p:cNvPr id="19" name="Text 17"/>
          <p:cNvSpPr/>
          <p:nvPr/>
        </p:nvSpPr>
        <p:spPr>
          <a:xfrm>
            <a:off x="5477256" y="2148840"/>
            <a:ext cx="162763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Retrieval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5641848" y="2834640"/>
            <a:ext cx="1298448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626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Cosine similarity over pgvector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7132320" y="3154680"/>
            <a:ext cx="164592" cy="274320"/>
          </a:xfrm>
          <a:prstGeom prst="rightArrow">
            <a:avLst/>
          </a:prstGeom>
          <a:solidFill>
            <a:srgbClr val="C9D6D6"/>
          </a:solidFill>
          <a:ln/>
        </p:spPr>
      </p:sp>
      <p:sp>
        <p:nvSpPr>
          <p:cNvPr id="22" name="Shape 20"/>
          <p:cNvSpPr/>
          <p:nvPr/>
        </p:nvSpPr>
        <p:spPr>
          <a:xfrm>
            <a:off x="7324344" y="2148840"/>
            <a:ext cx="1627632" cy="2286000"/>
          </a:xfrm>
          <a:prstGeom prst="roundRect">
            <a:avLst>
              <a:gd name="adj" fmla="val 5056"/>
            </a:avLst>
          </a:prstGeom>
          <a:solidFill>
            <a:srgbClr val="F3F7F6"/>
          </a:solidFill>
          <a:ln/>
          <a:effectLst>
            <a:outerShdw sx="100000" sy="100000" kx="0" ky="0" algn="bl" rotWithShape="0" blurRad="63500" dist="25400" dir="5400000">
              <a:srgbClr val="1A1A1A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7324344" y="2148840"/>
            <a:ext cx="1627632" cy="502920"/>
          </a:xfrm>
          <a:prstGeom prst="roundRect">
            <a:avLst>
              <a:gd name="adj" fmla="val 16364"/>
            </a:avLst>
          </a:prstGeom>
          <a:solidFill>
            <a:srgbClr val="028090"/>
          </a:solidFill>
          <a:ln/>
        </p:spPr>
      </p:sp>
      <p:sp>
        <p:nvSpPr>
          <p:cNvPr id="24" name="Text 22"/>
          <p:cNvSpPr/>
          <p:nvPr/>
        </p:nvSpPr>
        <p:spPr>
          <a:xfrm>
            <a:off x="7324344" y="2148840"/>
            <a:ext cx="162763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Generation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7488936" y="2834640"/>
            <a:ext cx="1298448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626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Anthropic Claude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8979408" y="3154680"/>
            <a:ext cx="164592" cy="274320"/>
          </a:xfrm>
          <a:prstGeom prst="rightArrow">
            <a:avLst/>
          </a:prstGeom>
          <a:solidFill>
            <a:srgbClr val="C9D6D6"/>
          </a:solidFill>
          <a:ln/>
        </p:spPr>
      </p:sp>
      <p:sp>
        <p:nvSpPr>
          <p:cNvPr id="27" name="Shape 25"/>
          <p:cNvSpPr/>
          <p:nvPr/>
        </p:nvSpPr>
        <p:spPr>
          <a:xfrm>
            <a:off x="9171432" y="2148840"/>
            <a:ext cx="1627632" cy="2286000"/>
          </a:xfrm>
          <a:prstGeom prst="roundRect">
            <a:avLst>
              <a:gd name="adj" fmla="val 5056"/>
            </a:avLst>
          </a:prstGeom>
          <a:solidFill>
            <a:srgbClr val="F3F7F6"/>
          </a:solidFill>
          <a:ln/>
          <a:effectLst>
            <a:outerShdw sx="100000" sy="100000" kx="0" ky="0" algn="bl" rotWithShape="0" blurRad="63500" dist="25400" dir="5400000">
              <a:srgbClr val="1A1A1A">
                <a:alpha val="10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9171432" y="2148840"/>
            <a:ext cx="1627632" cy="502920"/>
          </a:xfrm>
          <a:prstGeom prst="roundRect">
            <a:avLst>
              <a:gd name="adj" fmla="val 16364"/>
            </a:avLst>
          </a:prstGeom>
          <a:solidFill>
            <a:srgbClr val="00A896"/>
          </a:solidFill>
          <a:ln/>
        </p:spPr>
      </p:sp>
      <p:sp>
        <p:nvSpPr>
          <p:cNvPr id="29" name="Text 27"/>
          <p:cNvSpPr/>
          <p:nvPr/>
        </p:nvSpPr>
        <p:spPr>
          <a:xfrm>
            <a:off x="9171432" y="2148840"/>
            <a:ext cx="162763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Evaluation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9336024" y="2834640"/>
            <a:ext cx="1298448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626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Anthropic-backed LLM judge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548640" y="4800600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i="1" dirty="0">
                <a:solidFill>
                  <a:srgbClr val="5B7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downstream of a saved chunk stays traceable back to the configuration that produced it — so different pipelines run on the same corpus can be compared meaningfully in Metrics.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457200" y="653796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B7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BYORAG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7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626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Seven screens, one pipeline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325880"/>
            <a:ext cx="2606040" cy="2057400"/>
          </a:xfrm>
          <a:prstGeom prst="roundRect">
            <a:avLst>
              <a:gd name="adj" fmla="val 4000"/>
            </a:avLst>
          </a:prstGeom>
          <a:solidFill>
            <a:srgbClr val="F3F7F6"/>
          </a:solidFill>
          <a:ln/>
          <a:effectLst>
            <a:outerShdw sx="100000" sy="100000" kx="0" ky="0" algn="bl" rotWithShape="0" blurRad="63500" dist="25400" dir="5400000">
              <a:srgbClr val="1A1A1A">
                <a:alpha val="1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749808" y="1527048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5" name="Text 3"/>
          <p:cNvSpPr/>
          <p:nvPr/>
        </p:nvSpPr>
        <p:spPr>
          <a:xfrm>
            <a:off x="749808" y="152704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31520" y="2103120"/>
            <a:ext cx="2240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26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Corpora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31520" y="2441448"/>
            <a:ext cx="224028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80" dirty="0">
                <a:solidFill>
                  <a:srgbClr val="5B7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documents into named, switchable collections.</a:t>
            </a:r>
            <a:endParaRPr lang="en-US" sz="1080" dirty="0"/>
          </a:p>
        </p:txBody>
      </p:sp>
      <p:sp>
        <p:nvSpPr>
          <p:cNvPr id="8" name="Shape 6"/>
          <p:cNvSpPr/>
          <p:nvPr/>
        </p:nvSpPr>
        <p:spPr>
          <a:xfrm>
            <a:off x="3355848" y="1325880"/>
            <a:ext cx="2606040" cy="2057400"/>
          </a:xfrm>
          <a:prstGeom prst="roundRect">
            <a:avLst>
              <a:gd name="adj" fmla="val 4000"/>
            </a:avLst>
          </a:prstGeom>
          <a:solidFill>
            <a:srgbClr val="F3F7F6"/>
          </a:solidFill>
          <a:ln/>
          <a:effectLst>
            <a:outerShdw sx="100000" sy="100000" kx="0" ky="0" algn="bl" rotWithShape="0" blurRad="63500" dist="25400" dir="5400000">
              <a:srgbClr val="1A1A1A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557016" y="1527048"/>
            <a:ext cx="457200" cy="45720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0" name="Text 8"/>
          <p:cNvSpPr/>
          <p:nvPr/>
        </p:nvSpPr>
        <p:spPr>
          <a:xfrm>
            <a:off x="3557016" y="152704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538728" y="2103120"/>
            <a:ext cx="2240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26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Sources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538728" y="2441448"/>
            <a:ext cx="224028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80" dirty="0">
                <a:solidFill>
                  <a:srgbClr val="5B7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PDFs; read them side-by-side, fullscreen.</a:t>
            </a:r>
            <a:endParaRPr lang="en-US" sz="1080" dirty="0"/>
          </a:p>
        </p:txBody>
      </p:sp>
      <p:sp>
        <p:nvSpPr>
          <p:cNvPr id="13" name="Shape 11"/>
          <p:cNvSpPr/>
          <p:nvPr/>
        </p:nvSpPr>
        <p:spPr>
          <a:xfrm>
            <a:off x="6163056" y="1325880"/>
            <a:ext cx="2606040" cy="2057400"/>
          </a:xfrm>
          <a:prstGeom prst="roundRect">
            <a:avLst>
              <a:gd name="adj" fmla="val 4000"/>
            </a:avLst>
          </a:prstGeom>
          <a:solidFill>
            <a:srgbClr val="F3F7F6"/>
          </a:solidFill>
          <a:ln/>
          <a:effectLst>
            <a:outerShdw sx="100000" sy="100000" kx="0" ky="0" algn="bl" rotWithShape="0" blurRad="63500" dist="25400" dir="5400000">
              <a:srgbClr val="1A1A1A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364224" y="1527048"/>
            <a:ext cx="457200" cy="45720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5" name="Text 13"/>
          <p:cNvSpPr/>
          <p:nvPr/>
        </p:nvSpPr>
        <p:spPr>
          <a:xfrm>
            <a:off x="6364224" y="152704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345936" y="2103120"/>
            <a:ext cx="2240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26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Chunking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345936" y="2441448"/>
            <a:ext cx="224028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80" dirty="0">
                <a:solidFill>
                  <a:srgbClr val="5B7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Configure size/overlap; preview chunks on the real page.</a:t>
            </a:r>
            <a:endParaRPr lang="en-US" sz="1080" dirty="0"/>
          </a:p>
        </p:txBody>
      </p:sp>
      <p:sp>
        <p:nvSpPr>
          <p:cNvPr id="18" name="Shape 16"/>
          <p:cNvSpPr/>
          <p:nvPr/>
        </p:nvSpPr>
        <p:spPr>
          <a:xfrm>
            <a:off x="8970264" y="1325880"/>
            <a:ext cx="2606040" cy="2057400"/>
          </a:xfrm>
          <a:prstGeom prst="roundRect">
            <a:avLst>
              <a:gd name="adj" fmla="val 4000"/>
            </a:avLst>
          </a:prstGeom>
          <a:solidFill>
            <a:srgbClr val="F3F7F6"/>
          </a:solidFill>
          <a:ln/>
          <a:effectLst>
            <a:outerShdw sx="100000" sy="100000" kx="0" ky="0" algn="bl" rotWithShape="0" blurRad="63500" dist="25400" dir="5400000">
              <a:srgbClr val="1A1A1A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9171432" y="1527048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0" name="Text 18"/>
          <p:cNvSpPr/>
          <p:nvPr/>
        </p:nvSpPr>
        <p:spPr>
          <a:xfrm>
            <a:off x="9171432" y="152704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9153144" y="2103120"/>
            <a:ext cx="2240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26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Embeddings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9153144" y="2441448"/>
            <a:ext cx="224028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80" dirty="0">
                <a:solidFill>
                  <a:srgbClr val="5B7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a model, embed a doc or a whole corpus.</a:t>
            </a:r>
            <a:endParaRPr lang="en-US" sz="1080" dirty="0"/>
          </a:p>
        </p:txBody>
      </p:sp>
      <p:sp>
        <p:nvSpPr>
          <p:cNvPr id="23" name="Shape 21"/>
          <p:cNvSpPr/>
          <p:nvPr/>
        </p:nvSpPr>
        <p:spPr>
          <a:xfrm>
            <a:off x="548640" y="3657600"/>
            <a:ext cx="2606040" cy="2057400"/>
          </a:xfrm>
          <a:prstGeom prst="roundRect">
            <a:avLst>
              <a:gd name="adj" fmla="val 4000"/>
            </a:avLst>
          </a:prstGeom>
          <a:solidFill>
            <a:srgbClr val="F3F7F6"/>
          </a:solidFill>
          <a:ln/>
          <a:effectLst>
            <a:outerShdw sx="100000" sy="100000" kx="0" ky="0" algn="bl" rotWithShape="0" blurRad="63500" dist="25400" dir="5400000">
              <a:srgbClr val="1A1A1A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749808" y="3858768"/>
            <a:ext cx="457200" cy="45720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25" name="Text 23"/>
          <p:cNvSpPr/>
          <p:nvPr/>
        </p:nvSpPr>
        <p:spPr>
          <a:xfrm>
            <a:off x="749808" y="385876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731520" y="4434840"/>
            <a:ext cx="2240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26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Vector View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731520" y="4773168"/>
            <a:ext cx="224028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80" dirty="0">
                <a:solidFill>
                  <a:srgbClr val="5B7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Inspect raw vectors; project to 2D via UMAP/PCA.</a:t>
            </a:r>
            <a:endParaRPr lang="en-US" sz="1080" dirty="0"/>
          </a:p>
        </p:txBody>
      </p:sp>
      <p:sp>
        <p:nvSpPr>
          <p:cNvPr id="28" name="Shape 26"/>
          <p:cNvSpPr/>
          <p:nvPr/>
        </p:nvSpPr>
        <p:spPr>
          <a:xfrm>
            <a:off x="3355848" y="3657600"/>
            <a:ext cx="2606040" cy="2057400"/>
          </a:xfrm>
          <a:prstGeom prst="roundRect">
            <a:avLst>
              <a:gd name="adj" fmla="val 4000"/>
            </a:avLst>
          </a:prstGeom>
          <a:solidFill>
            <a:srgbClr val="F3F7F6"/>
          </a:solidFill>
          <a:ln/>
          <a:effectLst>
            <a:outerShdw sx="100000" sy="100000" kx="0" ky="0" algn="bl" rotWithShape="0" blurRad="63500" dist="25400" dir="5400000">
              <a:srgbClr val="1A1A1A">
                <a:alpha val="1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3557016" y="3858768"/>
            <a:ext cx="457200" cy="45720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30" name="Text 28"/>
          <p:cNvSpPr/>
          <p:nvPr/>
        </p:nvSpPr>
        <p:spPr>
          <a:xfrm>
            <a:off x="3557016" y="385876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3538728" y="4434840"/>
            <a:ext cx="2240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26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Playground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3538728" y="4773168"/>
            <a:ext cx="224028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80" dirty="0">
                <a:solidFill>
                  <a:srgbClr val="5B7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against retrieved context, with follow-ups.</a:t>
            </a:r>
            <a:endParaRPr lang="en-US" sz="1080" dirty="0"/>
          </a:p>
        </p:txBody>
      </p:sp>
      <p:sp>
        <p:nvSpPr>
          <p:cNvPr id="33" name="Shape 31"/>
          <p:cNvSpPr/>
          <p:nvPr/>
        </p:nvSpPr>
        <p:spPr>
          <a:xfrm>
            <a:off x="6163056" y="3657600"/>
            <a:ext cx="2606040" cy="2057400"/>
          </a:xfrm>
          <a:prstGeom prst="roundRect">
            <a:avLst>
              <a:gd name="adj" fmla="val 4000"/>
            </a:avLst>
          </a:prstGeom>
          <a:solidFill>
            <a:srgbClr val="F3F7F6"/>
          </a:solidFill>
          <a:ln/>
          <a:effectLst>
            <a:outerShdw sx="100000" sy="100000" kx="0" ky="0" algn="bl" rotWithShape="0" blurRad="63500" dist="25400" dir="5400000">
              <a:srgbClr val="1A1A1A">
                <a:alpha val="10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6364224" y="3858768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35" name="Text 33"/>
          <p:cNvSpPr/>
          <p:nvPr/>
        </p:nvSpPr>
        <p:spPr>
          <a:xfrm>
            <a:off x="6364224" y="385876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6345936" y="4434840"/>
            <a:ext cx="2240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26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Metrics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6345936" y="4773168"/>
            <a:ext cx="224028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80" dirty="0">
                <a:solidFill>
                  <a:srgbClr val="5B7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pipelines on precision, recall, faithfulness.</a:t>
            </a:r>
            <a:endParaRPr lang="en-US" sz="1080" dirty="0"/>
          </a:p>
        </p:txBody>
      </p:sp>
      <p:sp>
        <p:nvSpPr>
          <p:cNvPr id="38" name="Text 36"/>
          <p:cNvSpPr/>
          <p:nvPr/>
        </p:nvSpPr>
        <p:spPr>
          <a:xfrm>
            <a:off x="457200" y="653796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B7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BYORAG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7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626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 stack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472184"/>
            <a:ext cx="420624" cy="420624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472184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96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196" dirty="0"/>
          </a:p>
        </p:txBody>
      </p:sp>
      <p:sp>
        <p:nvSpPr>
          <p:cNvPr id="5" name="Text 3"/>
          <p:cNvSpPr/>
          <p:nvPr/>
        </p:nvSpPr>
        <p:spPr>
          <a:xfrm>
            <a:off x="1143000" y="1417320"/>
            <a:ext cx="18288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26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Frontend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063240" y="1417320"/>
            <a:ext cx="85953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7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19, TypeScript, Vite, Tailwind CSS 4, react-pdf, recharts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2020824"/>
            <a:ext cx="11064240" cy="0"/>
          </a:xfrm>
          <a:prstGeom prst="line">
            <a:avLst/>
          </a:prstGeom>
          <a:noFill/>
          <a:ln w="12700">
            <a:solidFill>
              <a:srgbClr val="E3EAE9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2130552"/>
            <a:ext cx="420624" cy="420624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2130552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96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196" dirty="0"/>
          </a:p>
        </p:txBody>
      </p:sp>
      <p:sp>
        <p:nvSpPr>
          <p:cNvPr id="10" name="Text 8"/>
          <p:cNvSpPr/>
          <p:nvPr/>
        </p:nvSpPr>
        <p:spPr>
          <a:xfrm>
            <a:off x="1143000" y="2075688"/>
            <a:ext cx="18288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26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Backend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063240" y="2075688"/>
            <a:ext cx="85953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7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3.12, FastAPI, SQLAlchemy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2679192"/>
            <a:ext cx="11064240" cy="0"/>
          </a:xfrm>
          <a:prstGeom prst="line">
            <a:avLst/>
          </a:prstGeom>
          <a:noFill/>
          <a:ln w="12700">
            <a:solidFill>
              <a:srgbClr val="E3EAE9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48640" y="2788920"/>
            <a:ext cx="420624" cy="420624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2788920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96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196" dirty="0"/>
          </a:p>
        </p:txBody>
      </p:sp>
      <p:sp>
        <p:nvSpPr>
          <p:cNvPr id="15" name="Text 13"/>
          <p:cNvSpPr/>
          <p:nvPr/>
        </p:nvSpPr>
        <p:spPr>
          <a:xfrm>
            <a:off x="1143000" y="2734056"/>
            <a:ext cx="18288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26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3063240" y="2734056"/>
            <a:ext cx="85953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7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+ pgvector — metadata, vectors, and PDFs in one database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48640" y="3337560"/>
            <a:ext cx="11064240" cy="0"/>
          </a:xfrm>
          <a:prstGeom prst="line">
            <a:avLst/>
          </a:prstGeom>
          <a:noFill/>
          <a:ln w="12700">
            <a:solidFill>
              <a:srgbClr val="E3EAE9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48640" y="3447288"/>
            <a:ext cx="420624" cy="420624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9" name="Text 17"/>
          <p:cNvSpPr/>
          <p:nvPr/>
        </p:nvSpPr>
        <p:spPr>
          <a:xfrm>
            <a:off x="548640" y="3447288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96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196" dirty="0"/>
          </a:p>
        </p:txBody>
      </p:sp>
      <p:sp>
        <p:nvSpPr>
          <p:cNvPr id="20" name="Text 18"/>
          <p:cNvSpPr/>
          <p:nvPr/>
        </p:nvSpPr>
        <p:spPr>
          <a:xfrm>
            <a:off x="1143000" y="3392424"/>
            <a:ext cx="18288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26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ML / NLP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3063240" y="3392424"/>
            <a:ext cx="85953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7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transformers + torch (BERT), scikit-learn + umap-learn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548640" y="3995928"/>
            <a:ext cx="11064240" cy="0"/>
          </a:xfrm>
          <a:prstGeom prst="line">
            <a:avLst/>
          </a:prstGeom>
          <a:noFill/>
          <a:ln w="12700">
            <a:solidFill>
              <a:srgbClr val="E3EAE9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48640" y="4105656"/>
            <a:ext cx="420624" cy="420624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24" name="Text 22"/>
          <p:cNvSpPr/>
          <p:nvPr/>
        </p:nvSpPr>
        <p:spPr>
          <a:xfrm>
            <a:off x="548640" y="4105656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96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196" dirty="0"/>
          </a:p>
        </p:txBody>
      </p:sp>
      <p:sp>
        <p:nvSpPr>
          <p:cNvPr id="25" name="Text 23"/>
          <p:cNvSpPr/>
          <p:nvPr/>
        </p:nvSpPr>
        <p:spPr>
          <a:xfrm>
            <a:off x="1143000" y="4050792"/>
            <a:ext cx="18288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26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LLM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3063240" y="4050792"/>
            <a:ext cx="85953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7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Anthropic Claude — chat generation and judge-based evaluation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548640" y="4654296"/>
            <a:ext cx="11064240" cy="0"/>
          </a:xfrm>
          <a:prstGeom prst="line">
            <a:avLst/>
          </a:prstGeom>
          <a:noFill/>
          <a:ln w="12700">
            <a:solidFill>
              <a:srgbClr val="E3EAE9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48640" y="4764024"/>
            <a:ext cx="420624" cy="420624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29" name="Text 27"/>
          <p:cNvSpPr/>
          <p:nvPr/>
        </p:nvSpPr>
        <p:spPr>
          <a:xfrm>
            <a:off x="548640" y="4764024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96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196" dirty="0"/>
          </a:p>
        </p:txBody>
      </p:sp>
      <p:sp>
        <p:nvSpPr>
          <p:cNvPr id="30" name="Text 28"/>
          <p:cNvSpPr/>
          <p:nvPr/>
        </p:nvSpPr>
        <p:spPr>
          <a:xfrm>
            <a:off x="1143000" y="4709160"/>
            <a:ext cx="18288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26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Testing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3063240" y="4709160"/>
            <a:ext cx="85953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7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pytest (backend), Vitest (frontend), Playwright (e2e)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548640" y="5312664"/>
            <a:ext cx="11064240" cy="0"/>
          </a:xfrm>
          <a:prstGeom prst="line">
            <a:avLst/>
          </a:prstGeom>
          <a:noFill/>
          <a:ln w="12700">
            <a:solidFill>
              <a:srgbClr val="E3EAE9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548640" y="5422392"/>
            <a:ext cx="420624" cy="420624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34" name="Text 32"/>
          <p:cNvSpPr/>
          <p:nvPr/>
        </p:nvSpPr>
        <p:spPr>
          <a:xfrm>
            <a:off x="548640" y="5422392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96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1196" dirty="0"/>
          </a:p>
        </p:txBody>
      </p:sp>
      <p:sp>
        <p:nvSpPr>
          <p:cNvPr id="35" name="Text 33"/>
          <p:cNvSpPr/>
          <p:nvPr/>
        </p:nvSpPr>
        <p:spPr>
          <a:xfrm>
            <a:off x="1143000" y="5367528"/>
            <a:ext cx="18288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26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Deployment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3063240" y="5367528"/>
            <a:ext cx="85953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7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/ Docker Compose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457200" y="653796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B7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BYORAG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7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626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Running the app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325880"/>
            <a:ext cx="5303520" cy="4114800"/>
          </a:xfrm>
          <a:prstGeom prst="roundRect">
            <a:avLst>
              <a:gd name="adj" fmla="val 2000"/>
            </a:avLst>
          </a:prstGeom>
          <a:solidFill>
            <a:srgbClr val="0B2E33"/>
          </a:solidFill>
          <a:ln/>
        </p:spPr>
      </p:sp>
      <p:sp>
        <p:nvSpPr>
          <p:cNvPr id="4" name="Text 2"/>
          <p:cNvSpPr/>
          <p:nvPr/>
        </p:nvSpPr>
        <p:spPr>
          <a:xfrm>
            <a:off x="868680" y="1600200"/>
            <a:ext cx="4663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Option A — Docker Compose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68680" y="2039112"/>
            <a:ext cx="4663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i="1" dirty="0">
                <a:solidFill>
                  <a:srgbClr val="9FC6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Recommended — runs Postgres (pgvector), backend, and frontend together with named volumes.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868680" y="2697480"/>
            <a:ext cx="4663440" cy="914400"/>
          </a:xfrm>
          <a:prstGeom prst="roundRect">
            <a:avLst>
              <a:gd name="adj" fmla="val 6000"/>
            </a:avLst>
          </a:prstGeom>
          <a:solidFill>
            <a:srgbClr val="0E3B42"/>
          </a:solidFill>
          <a:ln/>
        </p:spPr>
      </p:sp>
      <p:sp>
        <p:nvSpPr>
          <p:cNvPr id="7" name="Text 5"/>
          <p:cNvSpPr/>
          <p:nvPr/>
        </p:nvSpPr>
        <p:spPr>
          <a:xfrm>
            <a:off x="1051560" y="2788920"/>
            <a:ext cx="4297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export KEY_ENCRYPTION_SECRET=some-random-string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docker compose up --build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68680" y="3840480"/>
            <a:ext cx="4663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5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 </a:t>
            </a:r>
            <a:pPr indent="0" marL="0">
              <a:lnSpc>
                <a:spcPct val="140000"/>
              </a:lnSpc>
              <a:buNone/>
            </a:pPr>
            <a:r>
              <a:rPr lang="en-US" sz="1250" dirty="0">
                <a:solidFill>
                  <a:srgbClr val="C9E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http://localhost:8000
</a:t>
            </a:r>
            <a:pPr indent="0" marL="0">
              <a:lnSpc>
                <a:spcPct val="140000"/>
              </a:lnSpc>
              <a:buNone/>
            </a:pPr>
            <a:r>
              <a:rPr lang="en-US" sz="125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 </a:t>
            </a:r>
            <a:pPr indent="0" marL="0">
              <a:lnSpc>
                <a:spcPct val="140000"/>
              </a:lnSpc>
              <a:buNone/>
            </a:pPr>
            <a:r>
              <a:rPr lang="en-US" sz="1250" dirty="0">
                <a:solidFill>
                  <a:srgbClr val="C9E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http://localhost:5173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868680" y="4663440"/>
            <a:ext cx="4663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i="1" dirty="0">
                <a:solidFill>
                  <a:srgbClr val="8FB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KEY_ENCRYPTION_SECRET encrypts each user’s personal Anthropic API key at rest.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6126480" y="1325880"/>
            <a:ext cx="5303520" cy="4114800"/>
          </a:xfrm>
          <a:prstGeom prst="roundRect">
            <a:avLst>
              <a:gd name="adj" fmla="val 2000"/>
            </a:avLst>
          </a:prstGeom>
          <a:solidFill>
            <a:srgbClr val="F3F7F6"/>
          </a:solidFill>
          <a:ln/>
          <a:effectLst>
            <a:outerShdw sx="100000" sy="100000" kx="0" ky="0" algn="bl" rotWithShape="0" blurRad="63500" dist="25400" dir="5400000">
              <a:srgbClr val="1A1A1A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446520" y="1600200"/>
            <a:ext cx="4663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Option B — Run locally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446520" y="2039112"/>
            <a:ext cx="4663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i="1" dirty="0">
                <a:solidFill>
                  <a:srgbClr val="5B7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processes: Postgres with pgvector, the FastAPI backend, and the Vite frontend.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446520" y="2697480"/>
            <a:ext cx="365760" cy="36576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4" name="Text 12"/>
          <p:cNvSpPr/>
          <p:nvPr/>
        </p:nvSpPr>
        <p:spPr>
          <a:xfrm>
            <a:off x="6446520" y="26974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4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040" dirty="0"/>
          </a:p>
        </p:txBody>
      </p:sp>
      <p:sp>
        <p:nvSpPr>
          <p:cNvPr id="15" name="Text 13"/>
          <p:cNvSpPr/>
          <p:nvPr/>
        </p:nvSpPr>
        <p:spPr>
          <a:xfrm>
            <a:off x="6949440" y="2670048"/>
            <a:ext cx="4114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26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Postgres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949440" y="2971800"/>
            <a:ext cx="41148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5B72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docker run ... pgvector/pgvector:pg16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6446520" y="3566160"/>
            <a:ext cx="365760" cy="36576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8" name="Text 16"/>
          <p:cNvSpPr/>
          <p:nvPr/>
        </p:nvSpPr>
        <p:spPr>
          <a:xfrm>
            <a:off x="6446520" y="35661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4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040" dirty="0"/>
          </a:p>
        </p:txBody>
      </p:sp>
      <p:sp>
        <p:nvSpPr>
          <p:cNvPr id="19" name="Text 17"/>
          <p:cNvSpPr/>
          <p:nvPr/>
        </p:nvSpPr>
        <p:spPr>
          <a:xfrm>
            <a:off x="6949440" y="3538728"/>
            <a:ext cx="4114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26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Backend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949440" y="3840480"/>
            <a:ext cx="41148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5B72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cd backend &amp;&amp; uv sync &amp;&amp; uv run uvicorn app.main:app --reload --port 8000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6446520" y="4434840"/>
            <a:ext cx="365760" cy="36576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22" name="Text 20"/>
          <p:cNvSpPr/>
          <p:nvPr/>
        </p:nvSpPr>
        <p:spPr>
          <a:xfrm>
            <a:off x="6446520" y="44348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4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040" dirty="0"/>
          </a:p>
        </p:txBody>
      </p:sp>
      <p:sp>
        <p:nvSpPr>
          <p:cNvPr id="23" name="Text 21"/>
          <p:cNvSpPr/>
          <p:nvPr/>
        </p:nvSpPr>
        <p:spPr>
          <a:xfrm>
            <a:off x="6949440" y="4407408"/>
            <a:ext cx="4114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26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Frontend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949440" y="4709160"/>
            <a:ext cx="41148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5B72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cd frontend &amp;&amp; npm install &amp;&amp; npm run dev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6446520" y="4892040"/>
            <a:ext cx="4663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B7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Vite proxies /api/* to localhost:8000 — no extra frontend config needed.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457200" y="653796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B7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BYORAG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7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626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Spec-driven, test-first development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10789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5B7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feature under specs/ has a specification, an implementation plan, and a task breakdown before any code is written.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2286000" cy="868680"/>
          </a:xfrm>
          <a:prstGeom prst="roundRect">
            <a:avLst>
              <a:gd name="adj" fmla="val 9474"/>
            </a:avLst>
          </a:prstGeom>
          <a:solidFill>
            <a:srgbClr val="028090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920240"/>
            <a:ext cx="22860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Spec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2880360" y="2194560"/>
            <a:ext cx="365760" cy="320040"/>
          </a:xfrm>
          <a:prstGeom prst="rightArrow">
            <a:avLst/>
          </a:prstGeom>
          <a:solidFill>
            <a:srgbClr val="C9D6D6"/>
          </a:solidFill>
          <a:ln/>
        </p:spPr>
      </p:sp>
      <p:sp>
        <p:nvSpPr>
          <p:cNvPr id="7" name="Shape 5"/>
          <p:cNvSpPr/>
          <p:nvPr/>
        </p:nvSpPr>
        <p:spPr>
          <a:xfrm>
            <a:off x="3291840" y="1920240"/>
            <a:ext cx="2286000" cy="868680"/>
          </a:xfrm>
          <a:prstGeom prst="roundRect">
            <a:avLst>
              <a:gd name="adj" fmla="val 9474"/>
            </a:avLst>
          </a:prstGeom>
          <a:solidFill>
            <a:srgbClr val="00A896"/>
          </a:solidFill>
          <a:ln/>
        </p:spPr>
      </p:sp>
      <p:sp>
        <p:nvSpPr>
          <p:cNvPr id="8" name="Text 6"/>
          <p:cNvSpPr/>
          <p:nvPr/>
        </p:nvSpPr>
        <p:spPr>
          <a:xfrm>
            <a:off x="3291840" y="1920240"/>
            <a:ext cx="22860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Plan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5623560" y="2194560"/>
            <a:ext cx="365760" cy="320040"/>
          </a:xfrm>
          <a:prstGeom prst="rightArrow">
            <a:avLst/>
          </a:prstGeom>
          <a:solidFill>
            <a:srgbClr val="C9D6D6"/>
          </a:solidFill>
          <a:ln/>
        </p:spPr>
      </p:sp>
      <p:sp>
        <p:nvSpPr>
          <p:cNvPr id="10" name="Shape 8"/>
          <p:cNvSpPr/>
          <p:nvPr/>
        </p:nvSpPr>
        <p:spPr>
          <a:xfrm>
            <a:off x="6035040" y="1920240"/>
            <a:ext cx="2286000" cy="868680"/>
          </a:xfrm>
          <a:prstGeom prst="roundRect">
            <a:avLst>
              <a:gd name="adj" fmla="val 9474"/>
            </a:avLst>
          </a:prstGeom>
          <a:solidFill>
            <a:srgbClr val="02C39A"/>
          </a:solidFill>
          <a:ln/>
        </p:spPr>
      </p:sp>
      <p:sp>
        <p:nvSpPr>
          <p:cNvPr id="11" name="Text 9"/>
          <p:cNvSpPr/>
          <p:nvPr/>
        </p:nvSpPr>
        <p:spPr>
          <a:xfrm>
            <a:off x="6035040" y="1920240"/>
            <a:ext cx="22860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Tasks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8366760" y="2194560"/>
            <a:ext cx="365760" cy="320040"/>
          </a:xfrm>
          <a:prstGeom prst="rightArrow">
            <a:avLst/>
          </a:prstGeom>
          <a:solidFill>
            <a:srgbClr val="C9D6D6"/>
          </a:solidFill>
          <a:ln/>
        </p:spPr>
      </p:sp>
      <p:sp>
        <p:nvSpPr>
          <p:cNvPr id="13" name="Shape 11"/>
          <p:cNvSpPr/>
          <p:nvPr/>
        </p:nvSpPr>
        <p:spPr>
          <a:xfrm>
            <a:off x="8778240" y="1920240"/>
            <a:ext cx="2286000" cy="868680"/>
          </a:xfrm>
          <a:prstGeom prst="roundRect">
            <a:avLst>
              <a:gd name="adj" fmla="val 9474"/>
            </a:avLst>
          </a:prstGeom>
          <a:solidFill>
            <a:srgbClr val="028090"/>
          </a:solidFill>
          <a:ln/>
        </p:spPr>
      </p:sp>
      <p:sp>
        <p:nvSpPr>
          <p:cNvPr id="14" name="Text 12"/>
          <p:cNvSpPr/>
          <p:nvPr/>
        </p:nvSpPr>
        <p:spPr>
          <a:xfrm>
            <a:off x="8778240" y="1920240"/>
            <a:ext cx="22860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Implement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548640" y="3063240"/>
            <a:ext cx="10881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5B7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 rules live in .specify/memory/constitution.md: pluggable stages, test-first development, multi-user simplicity, a fixed stack, and full experiment traceability.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548640" y="379476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6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 coverage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548640" y="4251960"/>
            <a:ext cx="3566160" cy="1691640"/>
          </a:xfrm>
          <a:prstGeom prst="roundRect">
            <a:avLst>
              <a:gd name="adj" fmla="val 4865"/>
            </a:avLst>
          </a:prstGeom>
          <a:solidFill>
            <a:srgbClr val="F3F7F6"/>
          </a:solidFill>
          <a:ln/>
          <a:effectLst>
            <a:outerShdw sx="100000" sy="100000" kx="0" ky="0" algn="bl" rotWithShape="0" blurRad="63500" dist="25400" dir="5400000">
              <a:srgbClr val="1A1A1A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804672" y="4507992"/>
            <a:ext cx="502920" cy="50292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9" name="Text 17"/>
          <p:cNvSpPr/>
          <p:nvPr/>
        </p:nvSpPr>
        <p:spPr>
          <a:xfrm>
            <a:off x="804672" y="450799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3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</a:t>
            </a:r>
            <a:endParaRPr lang="en-US" sz="1430" dirty="0"/>
          </a:p>
        </p:txBody>
      </p:sp>
      <p:sp>
        <p:nvSpPr>
          <p:cNvPr id="20" name="Text 18"/>
          <p:cNvSpPr/>
          <p:nvPr/>
        </p:nvSpPr>
        <p:spPr>
          <a:xfrm>
            <a:off x="1463040" y="4453128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6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Unit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804672" y="5166360"/>
            <a:ext cx="305409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B7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pytest / Vitest — every feature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4343400" y="4251960"/>
            <a:ext cx="3566160" cy="1691640"/>
          </a:xfrm>
          <a:prstGeom prst="roundRect">
            <a:avLst>
              <a:gd name="adj" fmla="val 4865"/>
            </a:avLst>
          </a:prstGeom>
          <a:solidFill>
            <a:srgbClr val="F3F7F6"/>
          </a:solidFill>
          <a:ln/>
          <a:effectLst>
            <a:outerShdw sx="100000" sy="100000" kx="0" ky="0" algn="bl" rotWithShape="0" blurRad="63500" dist="25400" dir="5400000">
              <a:srgbClr val="1A1A1A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599432" y="4507992"/>
            <a:ext cx="502920" cy="50292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24" name="Text 22"/>
          <p:cNvSpPr/>
          <p:nvPr/>
        </p:nvSpPr>
        <p:spPr>
          <a:xfrm>
            <a:off x="4599432" y="450799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3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</a:t>
            </a:r>
            <a:endParaRPr lang="en-US" sz="1430" dirty="0"/>
          </a:p>
        </p:txBody>
      </p:sp>
      <p:sp>
        <p:nvSpPr>
          <p:cNvPr id="25" name="Text 23"/>
          <p:cNvSpPr/>
          <p:nvPr/>
        </p:nvSpPr>
        <p:spPr>
          <a:xfrm>
            <a:off x="5257800" y="4453128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6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Integration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4599432" y="5166360"/>
            <a:ext cx="305409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B7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Multi-step flows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8138160" y="4251960"/>
            <a:ext cx="3566160" cy="1691640"/>
          </a:xfrm>
          <a:prstGeom prst="roundRect">
            <a:avLst>
              <a:gd name="adj" fmla="val 4865"/>
            </a:avLst>
          </a:prstGeom>
          <a:solidFill>
            <a:srgbClr val="F3F7F6"/>
          </a:solidFill>
          <a:ln/>
          <a:effectLst>
            <a:outerShdw sx="100000" sy="100000" kx="0" ky="0" algn="bl" rotWithShape="0" blurRad="63500" dist="25400" dir="5400000">
              <a:srgbClr val="1A1A1A">
                <a:alpha val="10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8394192" y="4507992"/>
            <a:ext cx="502920" cy="50292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29" name="Text 27"/>
          <p:cNvSpPr/>
          <p:nvPr/>
        </p:nvSpPr>
        <p:spPr>
          <a:xfrm>
            <a:off x="8394192" y="450799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3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</a:t>
            </a:r>
            <a:endParaRPr lang="en-US" sz="1430" dirty="0"/>
          </a:p>
        </p:txBody>
      </p:sp>
      <p:sp>
        <p:nvSpPr>
          <p:cNvPr id="30" name="Text 28"/>
          <p:cNvSpPr/>
          <p:nvPr/>
        </p:nvSpPr>
        <p:spPr>
          <a:xfrm>
            <a:off x="9052560" y="4453128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6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End-to-end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8394192" y="5166360"/>
            <a:ext cx="305409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B7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Playwright — user-facing flows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457200" y="653796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B7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BYORAG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7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626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Future scope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10789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5B7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registry-based design means every direction below is a new implementation, not a rewrite.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257800" cy="2148840"/>
          </a:xfrm>
          <a:prstGeom prst="roundRect">
            <a:avLst>
              <a:gd name="adj" fmla="val 3830"/>
            </a:avLst>
          </a:prstGeom>
          <a:solidFill>
            <a:srgbClr val="F3F7F6"/>
          </a:solidFill>
          <a:ln/>
          <a:effectLst>
            <a:outerShdw sx="100000" sy="100000" kx="0" ky="0" algn="bl" rotWithShape="0" blurRad="63500" dist="25400" dir="5400000">
              <a:srgbClr val="1A1A1A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1947672"/>
            <a:ext cx="502920" cy="50292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6" name="Text 4"/>
          <p:cNvSpPr/>
          <p:nvPr/>
        </p:nvSpPr>
        <p:spPr>
          <a:xfrm>
            <a:off x="804672" y="194767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3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430" dirty="0"/>
          </a:p>
        </p:txBody>
      </p:sp>
      <p:sp>
        <p:nvSpPr>
          <p:cNvPr id="7" name="Text 5"/>
          <p:cNvSpPr/>
          <p:nvPr/>
        </p:nvSpPr>
        <p:spPr>
          <a:xfrm>
            <a:off x="1463040" y="1892808"/>
            <a:ext cx="4069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550" b="1" dirty="0">
                <a:solidFill>
                  <a:srgbClr val="1626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More chunking techniques</a:t>
            </a:r>
            <a:endParaRPr lang="en-US" sz="1550" dirty="0"/>
          </a:p>
        </p:txBody>
      </p:sp>
      <p:sp>
        <p:nvSpPr>
          <p:cNvPr id="8" name="Shape 6"/>
          <p:cNvSpPr/>
          <p:nvPr/>
        </p:nvSpPr>
        <p:spPr>
          <a:xfrm>
            <a:off x="804672" y="2560320"/>
            <a:ext cx="1554480" cy="320040"/>
          </a:xfrm>
          <a:prstGeom prst="roundRect">
            <a:avLst>
              <a:gd name="adj" fmla="val 48571"/>
            </a:avLst>
          </a:prstGeom>
          <a:solidFill>
            <a:srgbClr val="FFFFFF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04672" y="2560320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Today: fixed-size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804672" y="2990088"/>
            <a:ext cx="4745736" cy="7498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B7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Semantic, recursive, and layout-aware chunking strategies alongside fixed-size.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126480" y="1691640"/>
            <a:ext cx="5257800" cy="2148840"/>
          </a:xfrm>
          <a:prstGeom prst="roundRect">
            <a:avLst>
              <a:gd name="adj" fmla="val 3830"/>
            </a:avLst>
          </a:prstGeom>
          <a:solidFill>
            <a:srgbClr val="F3F7F6"/>
          </a:solidFill>
          <a:ln/>
          <a:effectLst>
            <a:outerShdw sx="100000" sy="100000" kx="0" ky="0" algn="bl" rotWithShape="0" blurRad="63500" dist="25400" dir="5400000">
              <a:srgbClr val="1A1A1A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382512" y="1947672"/>
            <a:ext cx="502920" cy="50292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3" name="Text 11"/>
          <p:cNvSpPr/>
          <p:nvPr/>
        </p:nvSpPr>
        <p:spPr>
          <a:xfrm>
            <a:off x="6382512" y="194767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3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430" dirty="0"/>
          </a:p>
        </p:txBody>
      </p:sp>
      <p:sp>
        <p:nvSpPr>
          <p:cNvPr id="14" name="Text 12"/>
          <p:cNvSpPr/>
          <p:nvPr/>
        </p:nvSpPr>
        <p:spPr>
          <a:xfrm>
            <a:off x="7040880" y="1892808"/>
            <a:ext cx="4069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550" b="1" dirty="0">
                <a:solidFill>
                  <a:srgbClr val="1626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More embedding models</a:t>
            </a:r>
            <a:endParaRPr lang="en-US" sz="1550" dirty="0"/>
          </a:p>
        </p:txBody>
      </p:sp>
      <p:sp>
        <p:nvSpPr>
          <p:cNvPr id="15" name="Shape 13"/>
          <p:cNvSpPr/>
          <p:nvPr/>
        </p:nvSpPr>
        <p:spPr>
          <a:xfrm>
            <a:off x="6382512" y="2560320"/>
            <a:ext cx="1554480" cy="320040"/>
          </a:xfrm>
          <a:prstGeom prst="roundRect">
            <a:avLst>
              <a:gd name="adj" fmla="val 48571"/>
            </a:avLst>
          </a:prstGeom>
          <a:solidFill>
            <a:srgbClr val="FFFFFF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382512" y="2560320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Today: BERT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6382512" y="2990088"/>
            <a:ext cx="4745736" cy="7498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B7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Additional embedding models to compare quality, dimensionality, and cost trade-offs.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548640" y="4114800"/>
            <a:ext cx="5257800" cy="2148840"/>
          </a:xfrm>
          <a:prstGeom prst="roundRect">
            <a:avLst>
              <a:gd name="adj" fmla="val 3830"/>
            </a:avLst>
          </a:prstGeom>
          <a:solidFill>
            <a:srgbClr val="F3F7F6"/>
          </a:solidFill>
          <a:ln/>
          <a:effectLst>
            <a:outerShdw sx="100000" sy="100000" kx="0" ky="0" algn="bl" rotWithShape="0" blurRad="63500" dist="25400" dir="5400000">
              <a:srgbClr val="1A1A1A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804672" y="4370832"/>
            <a:ext cx="502920" cy="50292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20" name="Text 18"/>
          <p:cNvSpPr/>
          <p:nvPr/>
        </p:nvSpPr>
        <p:spPr>
          <a:xfrm>
            <a:off x="804672" y="437083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3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430" dirty="0"/>
          </a:p>
        </p:txBody>
      </p:sp>
      <p:sp>
        <p:nvSpPr>
          <p:cNvPr id="21" name="Text 19"/>
          <p:cNvSpPr/>
          <p:nvPr/>
        </p:nvSpPr>
        <p:spPr>
          <a:xfrm>
            <a:off x="1463040" y="4315968"/>
            <a:ext cx="4069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550" b="1" dirty="0">
                <a:solidFill>
                  <a:srgbClr val="1626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More generation LLMs</a:t>
            </a:r>
            <a:endParaRPr lang="en-US" sz="1550" dirty="0"/>
          </a:p>
        </p:txBody>
      </p:sp>
      <p:sp>
        <p:nvSpPr>
          <p:cNvPr id="22" name="Shape 20"/>
          <p:cNvSpPr/>
          <p:nvPr/>
        </p:nvSpPr>
        <p:spPr>
          <a:xfrm>
            <a:off x="804672" y="4983480"/>
            <a:ext cx="1554480" cy="320040"/>
          </a:xfrm>
          <a:prstGeom prst="roundRect">
            <a:avLst>
              <a:gd name="adj" fmla="val 48571"/>
            </a:avLst>
          </a:prstGeom>
          <a:solidFill>
            <a:srgbClr val="FFFFFF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04672" y="4983480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Today: Claude Sonnet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804672" y="5413248"/>
            <a:ext cx="4745736" cy="7498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B7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for additional providers/models as pluggable generation backends.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6126480" y="4114800"/>
            <a:ext cx="5257800" cy="2148840"/>
          </a:xfrm>
          <a:prstGeom prst="roundRect">
            <a:avLst>
              <a:gd name="adj" fmla="val 3830"/>
            </a:avLst>
          </a:prstGeom>
          <a:solidFill>
            <a:srgbClr val="F3F7F6"/>
          </a:solidFill>
          <a:ln/>
          <a:effectLst>
            <a:outerShdw sx="100000" sy="100000" kx="0" ky="0" algn="bl" rotWithShape="0" blurRad="63500" dist="25400" dir="5400000">
              <a:srgbClr val="1A1A1A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382512" y="4370832"/>
            <a:ext cx="502920" cy="50292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7" name="Text 25"/>
          <p:cNvSpPr/>
          <p:nvPr/>
        </p:nvSpPr>
        <p:spPr>
          <a:xfrm>
            <a:off x="6382512" y="437083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3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430" dirty="0"/>
          </a:p>
        </p:txBody>
      </p:sp>
      <p:sp>
        <p:nvSpPr>
          <p:cNvPr id="28" name="Text 26"/>
          <p:cNvSpPr/>
          <p:nvPr/>
        </p:nvSpPr>
        <p:spPr>
          <a:xfrm>
            <a:off x="7040880" y="4315968"/>
            <a:ext cx="4069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550" b="1" dirty="0">
                <a:solidFill>
                  <a:srgbClr val="1626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More intuitive metrics comparison</a:t>
            </a:r>
            <a:endParaRPr lang="en-US" sz="1550" dirty="0"/>
          </a:p>
        </p:txBody>
      </p:sp>
      <p:sp>
        <p:nvSpPr>
          <p:cNvPr id="29" name="Shape 27"/>
          <p:cNvSpPr/>
          <p:nvPr/>
        </p:nvSpPr>
        <p:spPr>
          <a:xfrm>
            <a:off x="6382512" y="4983480"/>
            <a:ext cx="1554480" cy="320040"/>
          </a:xfrm>
          <a:prstGeom prst="roundRect">
            <a:avLst>
              <a:gd name="adj" fmla="val 48571"/>
            </a:avLst>
          </a:prstGeom>
          <a:solidFill>
            <a:srgbClr val="FFFFFF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382512" y="4983480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Today: table of scores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6382512" y="5413248"/>
            <a:ext cx="4745736" cy="7498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B7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Richer visual comparison of pipelines — charts and side-by-side views, not just numbers.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457200" y="653796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B7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BYORAG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7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2E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332720" y="5212080"/>
            <a:ext cx="502920" cy="502920"/>
          </a:xfrm>
          <a:prstGeom prst="ellipse">
            <a:avLst/>
          </a:prstGeom>
          <a:solidFill>
            <a:srgbClr val="028090">
              <a:alpha val="7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1155680" y="5943600"/>
            <a:ext cx="365760" cy="365760"/>
          </a:xfrm>
          <a:prstGeom prst="ellipse">
            <a:avLst/>
          </a:prstGeom>
          <a:solidFill>
            <a:srgbClr val="00A896">
              <a:alpha val="7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9784080" y="6035040"/>
            <a:ext cx="274320" cy="274320"/>
          </a:xfrm>
          <a:prstGeom prst="ellipse">
            <a:avLst/>
          </a:prstGeom>
          <a:solidFill>
            <a:srgbClr val="02C39A">
              <a:alpha val="75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64008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Explore the repo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658368" y="1234440"/>
            <a:ext cx="7589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9FC6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BYORAG — build, chunk, embed, retrieve, generate, and evaluate your own RAG pipelines.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58368" y="2011680"/>
            <a:ext cx="8686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C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frontend/  </a:t>
            </a:r>
            <a:pPr indent="0" marL="0">
              <a:buNone/>
            </a:pPr>
            <a:r>
              <a:rPr lang="en-US" sz="1350" dirty="0">
                <a:solidFill>
                  <a:srgbClr val="C9E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+ TypeScript + Vite — one component tree per screen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58368" y="2468880"/>
            <a:ext cx="8686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C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backend/  </a:t>
            </a:r>
            <a:pPr indent="0" marL="0">
              <a:buNone/>
            </a:pPr>
            <a:r>
              <a:rPr lang="en-US" sz="1350" dirty="0">
                <a:solidFill>
                  <a:srgbClr val="C9E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— one module per pipeline stage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58368" y="2926080"/>
            <a:ext cx="8686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C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specs/  </a:t>
            </a:r>
            <a:pPr indent="0" marL="0">
              <a:buNone/>
            </a:pPr>
            <a:r>
              <a:rPr lang="en-US" sz="1350" dirty="0">
                <a:solidFill>
                  <a:srgbClr val="C9E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specs, plans, and tasks, in build order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58368" y="3383280"/>
            <a:ext cx="8686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C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assets/  </a:t>
            </a:r>
            <a:pPr indent="0" marL="0">
              <a:buNone/>
            </a:pPr>
            <a:r>
              <a:rPr lang="en-US" sz="1350" dirty="0">
                <a:solidFill>
                  <a:srgbClr val="C9E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Original design references and tokens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58368" y="3840480"/>
            <a:ext cx="8686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C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.specify/  </a:t>
            </a:r>
            <a:pPr indent="0" marL="0">
              <a:buNone/>
            </a:pPr>
            <a:r>
              <a:rPr lang="en-US" sz="1350" dirty="0">
                <a:solidFill>
                  <a:srgbClr val="C9E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constitution and workflow templates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58368" y="46177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i="1" dirty="0">
                <a:solidFill>
                  <a:srgbClr val="8FB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 up, add a personal Anthropic API key from the Profile screen,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i="1" dirty="0">
                <a:solidFill>
                  <a:srgbClr val="8FB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start comparing pipelines.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57200" y="653796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7FA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BYORAG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FA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2026-08-06T17:28:05Z</dcterms:created>
  <dcterms:modified xsi:type="dcterms:W3CDTF">2026-08-06T17:28:05Z</dcterms:modified>
</cp:coreProperties>
</file>